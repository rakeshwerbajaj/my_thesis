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5" r:id="rId3"/>
    <p:sldId id="266" r:id="rId4"/>
    <p:sldId id="26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09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/>
    <p:restoredTop sz="94671"/>
  </p:normalViewPr>
  <p:slideViewPr>
    <p:cSldViewPr snapToGrid="0" snapToObjects="1">
      <p:cViewPr varScale="1">
        <p:scale>
          <a:sx n="104" d="100"/>
          <a:sy n="104" d="100"/>
        </p:scale>
        <p:origin x="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76ABC-33D1-9C41-94E4-617AD2CE1B7F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DABC9-534C-8B4E-8D84-780BFD0E7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698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DABC9-534C-8B4E-8D84-780BFD0E7F3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718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DABC9-534C-8B4E-8D84-780BFD0E7F3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014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3DABC9-534C-8B4E-8D84-780BFD0E7F3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305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272F6-05AE-2E40-A456-0AA9A4393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8D5F3B-45FA-C940-95A0-4F6F7BFA6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DEBB05-F4D8-3E47-A136-BD80E07F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4B5B7-2638-2041-BD28-6DAD4B7A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92CE6B-30D2-5F4B-97C5-9636C88F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62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01676-00C0-7547-A6BC-1E7FBF19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5A4953-9619-1F46-9F6D-3B5E9D85F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3AE685-0595-9240-8E8C-CA1C6625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669F1E-776C-134A-BC61-2310A934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2CBC51-2B09-C44A-BDEA-8AA596B9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09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79BBDA-AAA6-3749-AAEE-7FB52CF1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9788C-ED9B-0147-8BE9-0EF58B4CF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312A0C-0244-484B-8F27-575CEAA0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FABDD7-7FDC-4D41-B3A6-8C1EDD31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1C2C9C-BB03-8047-80BC-A02B80A4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22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AE6F5-1CED-C34E-9B11-35EAB51C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43493B-7349-2D49-BFE8-3C7F15AD9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64A815-1CC9-414F-A49D-FEC7C8332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A74201-2EA4-4647-9A13-9B09B996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E342F1-FBB4-3945-AEE5-4C73146B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949EA3-F2A1-0749-9042-BD71F570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81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9793DD-682A-AB43-B9BE-30604E45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8EAB5B-274F-6F4B-AA9F-5F55F151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024678-213F-7E42-BF21-3797DBE43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0BD7F0-DB34-3B42-A068-61914E00E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BA623E-8334-3248-8463-5F84C98FA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DED25A-1056-AD40-8E69-4BEF609C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2CDA5A-89F6-1640-808A-F42FDC7D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6129B7-C862-3947-91D6-A601F59F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58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C50A88-9B34-7B45-B913-E2851258C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D688C7-FA1D-574E-8574-EC86E0E0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6886FD-AD59-8445-AAE6-955E90C5D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83313E-5A49-CB49-A0EE-CD5C36A0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62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8B1B36-5321-9C42-8982-B31F35C1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1E1245-3B2D-6143-BEC3-DF6C9C9E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3F538B-8286-5D4C-B376-0A1C6069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146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3A93A-95E4-B64C-B40E-B9933CDE5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6B0D10-1ABA-9D49-B61A-806692C2C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0C32D1-1713-F04E-AF7B-F18E59014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248151-BD2C-C64A-90F4-3B11FE634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991572-EC97-DF4E-BE5A-331B17DD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4B4BB0-37D7-B74B-82A7-4E292EA7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367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9B2D2-0C4E-1F44-A851-0D967852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AFCD5E-DF90-9B44-93D3-51175D8A5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C8CD59-0A7F-024D-BBBB-676CBACF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CFCC23-E11B-2E4B-BBB7-8D4A22DD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3CDD43-F03E-F047-A7CE-27DBB0FF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C35653B-494D-0242-B61D-939EE24D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18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9CE6E2-71C4-AD4D-9389-F8C882B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F314B8-4A93-C244-A955-80815D958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3BBB8A-8437-424B-B56F-2957E46D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9B0552-B61A-A242-A1DF-4725D060C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E8C45A-1489-1C4A-82F7-268CE6CE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043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77171FF-D075-BB44-B091-17C725BA1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7E07FF-50D3-A449-85A7-2AA8150AA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CDBAE2-2481-D544-9F56-FBE98BDF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50F466-6D4A-794D-8A92-1024F811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2B66BC-41F7-CE4D-A91C-5153ED3A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16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7704054-6112-3B4F-96AA-4A1F8601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A3C8BD-57B6-8A49-BFAC-3A2C3E1B4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D0F897-907F-AC4F-9B32-FC48301CC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6F40E-0BE7-7441-94CB-0CED3EF25F1E}" type="datetimeFigureOut">
              <a:rPr lang="de-DE" smtClean="0"/>
              <a:t>17.05.22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F94B9B-0000-D84C-A3BA-006333A2F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9D90DB-343E-6548-969E-B472B6CB6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D93BF-CEC1-484B-B797-4695C35961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26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ECED7DCE-EB32-B548-9BBA-A49D1E4E1D60}"/>
              </a:ext>
            </a:extLst>
          </p:cNvPr>
          <p:cNvSpPr txBox="1"/>
          <p:nvPr/>
        </p:nvSpPr>
        <p:spPr>
          <a:xfrm>
            <a:off x="961604" y="671210"/>
            <a:ext cx="100728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 dirty="0" err="1"/>
              <a:t>MasterThesis: StockTrendPrediction</a:t>
            </a:r>
            <a:endParaRPr lang="de-DE" sz="3000" dirty="0"/>
          </a:p>
          <a:p>
            <a:endParaRPr lang="de-DE" sz="3000" b="1" dirty="0"/>
          </a:p>
          <a:p>
            <a:r>
              <a:rPr lang="de-DE" sz="2400" i="1" dirty="0" err="1"/>
              <a:t>Introduction / Motivation: Regime Shifts in Stock Price Movements</a:t>
            </a:r>
            <a:endParaRPr lang="de-DE" sz="2400" i="1" dirty="0"/>
          </a:p>
        </p:txBody>
      </p:sp>
    </p:spTree>
    <p:extLst>
      <p:ext uri="{BB962C8B-B14F-4D97-AF65-F5344CB8AC3E}">
        <p14:creationId xmlns:p14="http://schemas.microsoft.com/office/powerpoint/2010/main" val="4194484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feld 51">
            <a:extLst>
              <a:ext uri="{FF2B5EF4-FFF2-40B4-BE49-F238E27FC236}">
                <a16:creationId xmlns:a16="http://schemas.microsoft.com/office/drawing/2014/main" id="{02D46DD5-A467-5A4F-9B9C-C0FBA091B004}"/>
              </a:ext>
            </a:extLst>
          </p:cNvPr>
          <p:cNvSpPr txBox="1"/>
          <p:nvPr/>
        </p:nvSpPr>
        <p:spPr>
          <a:xfrm>
            <a:off x="365769" y="302411"/>
            <a:ext cx="667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stationary</a:t>
            </a:r>
            <a:r>
              <a:rPr lang="de-DE" sz="2400" dirty="0"/>
              <a:t> vs. </a:t>
            </a:r>
            <a:r>
              <a:rPr lang="de-DE" sz="2400" b="1" dirty="0"/>
              <a:t>non-</a:t>
            </a:r>
            <a:r>
              <a:rPr lang="de-DE" sz="2400" b="1" dirty="0" err="1"/>
              <a:t>stationary</a:t>
            </a:r>
            <a:endParaRPr lang="de-DE" sz="24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D92CB2F-0CB7-3046-92E3-240608E9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426998"/>
            <a:ext cx="9855200" cy="3289300"/>
          </a:xfrm>
          <a:prstGeom prst="rect">
            <a:avLst/>
          </a:prstGeom>
        </p:spPr>
      </p:pic>
      <p:sp>
        <p:nvSpPr>
          <p:cNvPr id="18" name="Pfeil nach rechts 17">
            <a:extLst>
              <a:ext uri="{FF2B5EF4-FFF2-40B4-BE49-F238E27FC236}">
                <a16:creationId xmlns:a16="http://schemas.microsoft.com/office/drawing/2014/main" id="{4B152597-A7AB-9B40-A990-F4D83F4E5B65}"/>
              </a:ext>
            </a:extLst>
          </p:cNvPr>
          <p:cNvSpPr/>
          <p:nvPr/>
        </p:nvSpPr>
        <p:spPr>
          <a:xfrm rot="1880341">
            <a:off x="2529237" y="3340239"/>
            <a:ext cx="1219200" cy="202262"/>
          </a:xfrm>
          <a:prstGeom prst="rightArrow">
            <a:avLst/>
          </a:prstGeom>
          <a:solidFill>
            <a:srgbClr val="D2090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Pfeil nach rechts 123">
            <a:extLst>
              <a:ext uri="{FF2B5EF4-FFF2-40B4-BE49-F238E27FC236}">
                <a16:creationId xmlns:a16="http://schemas.microsoft.com/office/drawing/2014/main" id="{646CD7C8-A80C-3A48-B489-DE012B72FFBD}"/>
              </a:ext>
            </a:extLst>
          </p:cNvPr>
          <p:cNvSpPr/>
          <p:nvPr/>
        </p:nvSpPr>
        <p:spPr>
          <a:xfrm rot="20578419">
            <a:off x="3711036" y="3720162"/>
            <a:ext cx="1926893" cy="183010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Pfeil nach rechts 128">
            <a:extLst>
              <a:ext uri="{FF2B5EF4-FFF2-40B4-BE49-F238E27FC236}">
                <a16:creationId xmlns:a16="http://schemas.microsoft.com/office/drawing/2014/main" id="{C5887564-184F-CD49-9BDB-DB7793E5A2B8}"/>
              </a:ext>
            </a:extLst>
          </p:cNvPr>
          <p:cNvSpPr/>
          <p:nvPr/>
        </p:nvSpPr>
        <p:spPr>
          <a:xfrm rot="3760972">
            <a:off x="5561780" y="3368482"/>
            <a:ext cx="875196" cy="191414"/>
          </a:xfrm>
          <a:prstGeom prst="rightArrow">
            <a:avLst/>
          </a:prstGeom>
          <a:solidFill>
            <a:srgbClr val="D2090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Pfeil nach rechts 129">
            <a:extLst>
              <a:ext uri="{FF2B5EF4-FFF2-40B4-BE49-F238E27FC236}">
                <a16:creationId xmlns:a16="http://schemas.microsoft.com/office/drawing/2014/main" id="{073D30E6-F092-1F4D-9899-2F849E024F8B}"/>
              </a:ext>
            </a:extLst>
          </p:cNvPr>
          <p:cNvSpPr/>
          <p:nvPr/>
        </p:nvSpPr>
        <p:spPr>
          <a:xfrm rot="20201477">
            <a:off x="6054352" y="3225286"/>
            <a:ext cx="4916005" cy="190789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37732D4-27FF-334F-8895-FC5A7D90262A}"/>
              </a:ext>
            </a:extLst>
          </p:cNvPr>
          <p:cNvSpPr txBox="1"/>
          <p:nvPr/>
        </p:nvSpPr>
        <p:spPr>
          <a:xfrm>
            <a:off x="1576552" y="4981903"/>
            <a:ext cx="7262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1st </a:t>
            </a:r>
            <a:r>
              <a:rPr lang="de-DE" dirty="0" err="1"/>
              <a:t>step</a:t>
            </a:r>
            <a:r>
              <a:rPr lang="de-DE" dirty="0"/>
              <a:t>: </a:t>
            </a:r>
            <a:r>
              <a:rPr lang="de-DE" b="1" dirty="0"/>
              <a:t>de-trend</a:t>
            </a:r>
            <a:r>
              <a:rPr lang="de-DE" dirty="0"/>
              <a:t> </a:t>
            </a:r>
            <a:r>
              <a:rPr lang="de-DE" dirty="0" err="1"/>
              <a:t>timeseries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absolute </a:t>
            </a:r>
            <a:r>
              <a:rPr lang="de-DE" dirty="0" err="1"/>
              <a:t>values</a:t>
            </a:r>
            <a:endParaRPr lang="de-DE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dirty="0" err="1"/>
              <a:t>Usually</a:t>
            </a:r>
            <a:r>
              <a:rPr lang="de-DE" dirty="0"/>
              <a:t> find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-term </a:t>
            </a:r>
            <a:r>
              <a:rPr lang="de-DE" b="1" dirty="0" err="1">
                <a:solidFill>
                  <a:srgbClr val="0070C0"/>
                </a:solidFill>
              </a:rPr>
              <a:t>exponential</a:t>
            </a:r>
            <a:r>
              <a:rPr lang="de-DE" b="1" dirty="0">
                <a:solidFill>
                  <a:srgbClr val="0070C0"/>
                </a:solidFill>
              </a:rPr>
              <a:t> </a:t>
            </a:r>
            <a:r>
              <a:rPr lang="de-DE" b="1" dirty="0" err="1">
                <a:solidFill>
                  <a:srgbClr val="0070C0"/>
                </a:solidFill>
              </a:rPr>
              <a:t>trend</a:t>
            </a:r>
            <a:endParaRPr lang="de-DE" b="1" dirty="0">
              <a:solidFill>
                <a:srgbClr val="0070C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dirty="0"/>
              <a:t>Plus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>
                <a:solidFill>
                  <a:srgbClr val="C00000"/>
                </a:solidFill>
              </a:rPr>
              <a:t>„</a:t>
            </a:r>
            <a:r>
              <a:rPr lang="de-DE" b="1" dirty="0" err="1">
                <a:solidFill>
                  <a:srgbClr val="C00000"/>
                </a:solidFill>
              </a:rPr>
              <a:t>bear</a:t>
            </a:r>
            <a:r>
              <a:rPr lang="de-DE" dirty="0">
                <a:solidFill>
                  <a:srgbClr val="C00000"/>
                </a:solidFill>
              </a:rPr>
              <a:t>“ </a:t>
            </a:r>
            <a:r>
              <a:rPr lang="de-DE" dirty="0"/>
              <a:t>vs.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„</a:t>
            </a:r>
            <a:r>
              <a:rPr lang="de-DE" b="1" dirty="0" err="1">
                <a:solidFill>
                  <a:schemeClr val="accent6">
                    <a:lumMod val="75000"/>
                  </a:schemeClr>
                </a:solidFill>
              </a:rPr>
              <a:t>bull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“ </a:t>
            </a:r>
            <a:r>
              <a:rPr lang="de-DE" dirty="0" err="1"/>
              <a:t>markets</a:t>
            </a: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sp>
        <p:nvSpPr>
          <p:cNvPr id="21" name="Bogen 20">
            <a:extLst>
              <a:ext uri="{FF2B5EF4-FFF2-40B4-BE49-F238E27FC236}">
                <a16:creationId xmlns:a16="http://schemas.microsoft.com/office/drawing/2014/main" id="{C18EBDE2-73DC-804A-85E4-8946E7261702}"/>
              </a:ext>
            </a:extLst>
          </p:cNvPr>
          <p:cNvSpPr/>
          <p:nvPr/>
        </p:nvSpPr>
        <p:spPr>
          <a:xfrm rot="9104663">
            <a:off x="1922805" y="-591040"/>
            <a:ext cx="11038692" cy="3625128"/>
          </a:xfrm>
          <a:prstGeom prst="arc">
            <a:avLst>
              <a:gd name="adj1" fmla="val 12834088"/>
              <a:gd name="adj2" fmla="val 20856590"/>
            </a:avLst>
          </a:prstGeom>
          <a:ln w="47625">
            <a:prstDash val="sysDot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60DF63D-6F75-E445-AD5E-CE520A423C68}"/>
              </a:ext>
            </a:extLst>
          </p:cNvPr>
          <p:cNvCxnSpPr>
            <a:cxnSpLocks/>
          </p:cNvCxnSpPr>
          <p:nvPr/>
        </p:nvCxnSpPr>
        <p:spPr>
          <a:xfrm>
            <a:off x="2593286" y="2260476"/>
            <a:ext cx="0" cy="77099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B74DFEE9-2F81-1D46-99D9-4430153C4706}"/>
              </a:ext>
            </a:extLst>
          </p:cNvPr>
          <p:cNvCxnSpPr>
            <a:cxnSpLocks/>
          </p:cNvCxnSpPr>
          <p:nvPr/>
        </p:nvCxnSpPr>
        <p:spPr>
          <a:xfrm>
            <a:off x="3742809" y="2260231"/>
            <a:ext cx="0" cy="77099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E18B6426-C242-FF43-A2A5-6784833F649B}"/>
              </a:ext>
            </a:extLst>
          </p:cNvPr>
          <p:cNvCxnSpPr>
            <a:cxnSpLocks/>
          </p:cNvCxnSpPr>
          <p:nvPr/>
        </p:nvCxnSpPr>
        <p:spPr>
          <a:xfrm>
            <a:off x="5709756" y="2259986"/>
            <a:ext cx="0" cy="77099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A1963F02-00DA-DF49-840E-AE212A57FE43}"/>
              </a:ext>
            </a:extLst>
          </p:cNvPr>
          <p:cNvCxnSpPr>
            <a:cxnSpLocks/>
          </p:cNvCxnSpPr>
          <p:nvPr/>
        </p:nvCxnSpPr>
        <p:spPr>
          <a:xfrm>
            <a:off x="6235819" y="2259741"/>
            <a:ext cx="0" cy="770994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7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feld 51">
            <a:extLst>
              <a:ext uri="{FF2B5EF4-FFF2-40B4-BE49-F238E27FC236}">
                <a16:creationId xmlns:a16="http://schemas.microsoft.com/office/drawing/2014/main" id="{02D46DD5-A467-5A4F-9B9C-C0FBA091B004}"/>
              </a:ext>
            </a:extLst>
          </p:cNvPr>
          <p:cNvSpPr txBox="1"/>
          <p:nvPr/>
        </p:nvSpPr>
        <p:spPr>
          <a:xfrm>
            <a:off x="365769" y="302411"/>
            <a:ext cx="667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stationary</a:t>
            </a:r>
            <a:r>
              <a:rPr lang="de-DE" sz="2400" dirty="0"/>
              <a:t> vs. </a:t>
            </a:r>
            <a:r>
              <a:rPr lang="de-DE" sz="2400" b="1" dirty="0"/>
              <a:t>non-</a:t>
            </a:r>
            <a:r>
              <a:rPr lang="de-DE" sz="2400" b="1" dirty="0" err="1"/>
              <a:t>stationary</a:t>
            </a:r>
            <a:endParaRPr lang="de-DE" sz="24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17CA0B5-1704-7049-B632-9DAF02BD5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53655"/>
            <a:ext cx="11506200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5DDB5F7-AC49-F74F-8664-9CFDBDA70BA7}"/>
              </a:ext>
            </a:extLst>
          </p:cNvPr>
          <p:cNvSpPr/>
          <p:nvPr/>
        </p:nvSpPr>
        <p:spPr>
          <a:xfrm>
            <a:off x="5527971" y="3602182"/>
            <a:ext cx="1191491" cy="1787236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C216676-5881-0E43-B64C-E40D2DB841FA}"/>
              </a:ext>
            </a:extLst>
          </p:cNvPr>
          <p:cNvSpPr txBox="1"/>
          <p:nvPr/>
        </p:nvSpPr>
        <p:spPr>
          <a:xfrm>
            <a:off x="5306291" y="6121634"/>
            <a:ext cx="285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C00000"/>
                </a:solidFill>
              </a:rPr>
              <a:t>high-</a:t>
            </a:r>
            <a:r>
              <a:rPr lang="de-DE" b="1" dirty="0" err="1">
                <a:solidFill>
                  <a:srgbClr val="C00000"/>
                </a:solidFill>
              </a:rPr>
              <a:t>volatility</a:t>
            </a:r>
            <a:r>
              <a:rPr lang="de-DE" dirty="0"/>
              <a:t> </a:t>
            </a:r>
            <a:r>
              <a:rPr lang="de-DE" dirty="0" err="1"/>
              <a:t>regime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156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feld 51">
            <a:extLst>
              <a:ext uri="{FF2B5EF4-FFF2-40B4-BE49-F238E27FC236}">
                <a16:creationId xmlns:a16="http://schemas.microsoft.com/office/drawing/2014/main" id="{02D46DD5-A467-5A4F-9B9C-C0FBA091B004}"/>
              </a:ext>
            </a:extLst>
          </p:cNvPr>
          <p:cNvSpPr txBox="1"/>
          <p:nvPr/>
        </p:nvSpPr>
        <p:spPr>
          <a:xfrm>
            <a:off x="365769" y="302411"/>
            <a:ext cx="667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stationary</a:t>
            </a:r>
            <a:r>
              <a:rPr lang="de-DE" sz="2400" dirty="0"/>
              <a:t> vs. </a:t>
            </a:r>
            <a:r>
              <a:rPr lang="de-DE" sz="2400" b="1" dirty="0"/>
              <a:t>non-</a:t>
            </a:r>
            <a:r>
              <a:rPr lang="de-DE" sz="2400" b="1" dirty="0" err="1"/>
              <a:t>stationary</a:t>
            </a:r>
            <a:endParaRPr lang="de-DE" sz="2400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722E63D-BD22-D742-B864-3A2F647C5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964043"/>
            <a:ext cx="11506200" cy="429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1DDCDDB-EDB5-9247-BCAC-495201FF7038}"/>
              </a:ext>
            </a:extLst>
          </p:cNvPr>
          <p:cNvSpPr txBox="1"/>
          <p:nvPr/>
        </p:nvSpPr>
        <p:spPr>
          <a:xfrm>
            <a:off x="2812467" y="5456610"/>
            <a:ext cx="34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b="1" dirty="0" err="1"/>
              <a:t>mean</a:t>
            </a:r>
            <a:r>
              <a:rPr lang="de-DE" b="1" dirty="0"/>
              <a:t>:     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0.0	             </a:t>
            </a:r>
            <a:r>
              <a:rPr lang="de-DE" dirty="0">
                <a:solidFill>
                  <a:srgbClr val="C00000"/>
                </a:solidFill>
              </a:rPr>
              <a:t>0.0</a:t>
            </a:r>
            <a:endParaRPr lang="de-DE" dirty="0">
              <a:solidFill>
                <a:schemeClr val="accent6">
                  <a:lumMod val="75000"/>
                </a:schemeClr>
              </a:solidFill>
            </a:endParaRPr>
          </a:p>
          <a:p>
            <a:pPr algn="r"/>
            <a:r>
              <a:rPr lang="de-DE" b="1" dirty="0" err="1"/>
              <a:t>std</a:t>
            </a:r>
            <a:r>
              <a:rPr lang="de-DE" b="1" dirty="0"/>
              <a:t> </a:t>
            </a:r>
            <a:r>
              <a:rPr lang="de-DE" b="1" dirty="0" err="1"/>
              <a:t>dev</a:t>
            </a:r>
            <a:r>
              <a:rPr lang="de-DE" b="1" dirty="0"/>
              <a:t>: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0.006	           </a:t>
            </a:r>
            <a:r>
              <a:rPr lang="de-DE" dirty="0">
                <a:solidFill>
                  <a:srgbClr val="C00000"/>
                </a:solidFill>
              </a:rPr>
              <a:t>0.022</a:t>
            </a:r>
            <a:endParaRPr lang="de-DE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1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Macintosh PowerPoint</Application>
  <PresentationFormat>Breitbild</PresentationFormat>
  <Paragraphs>15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Microsoft Office User</cp:lastModifiedBy>
  <cp:revision>98</cp:revision>
  <dcterms:created xsi:type="dcterms:W3CDTF">2022-02-08T07:54:03Z</dcterms:created>
  <dcterms:modified xsi:type="dcterms:W3CDTF">2022-05-17T09:09:34Z</dcterms:modified>
</cp:coreProperties>
</file>